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7" r:id="rId1"/>
  </p:sldMasterIdLst>
  <p:sldIdLst>
    <p:sldId id="256" r:id="rId2"/>
    <p:sldId id="257" r:id="rId3"/>
    <p:sldId id="258" r:id="rId4"/>
    <p:sldId id="259" r:id="rId5"/>
    <p:sldId id="260" r:id="rId6"/>
    <p:sldId id="261" r:id="rId7"/>
    <p:sldId id="275" r:id="rId8"/>
    <p:sldId id="263" r:id="rId9"/>
    <p:sldId id="264" r:id="rId10"/>
    <p:sldId id="265" r:id="rId11"/>
    <p:sldId id="266" r:id="rId12"/>
    <p:sldId id="270" r:id="rId13"/>
    <p:sldId id="267" r:id="rId14"/>
    <p:sldId id="268" r:id="rId15"/>
    <p:sldId id="269" r:id="rId16"/>
    <p:sldId id="271" r:id="rId17"/>
    <p:sldId id="272" r:id="rId18"/>
    <p:sldId id="273"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372" y="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FF667A-006E-4FD7-8A51-E83BE9CC9590}" type="datetimeFigureOut">
              <a:rPr lang="en-US" smtClean="0"/>
              <a:t>3/8/2026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5496570-AC4C-4289-BCF3-085AD5F3A77D}"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3108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FF667A-006E-4FD7-8A51-E83BE9CC9590}"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496570-AC4C-4289-BCF3-085AD5F3A77D}"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5402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2FF667A-006E-4FD7-8A51-E83BE9CC9590}"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496570-AC4C-4289-BCF3-085AD5F3A77D}"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90867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FF667A-006E-4FD7-8A51-E83BE9CC9590}"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496570-AC4C-4289-BCF3-085AD5F3A77D}"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22629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FF667A-006E-4FD7-8A51-E83BE9CC9590}" type="datetimeFigureOut">
              <a:rPr lang="en-US" smtClean="0"/>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496570-AC4C-4289-BCF3-085AD5F3A77D}"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47167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FF667A-006E-4FD7-8A51-E83BE9CC9590}" type="datetimeFigureOut">
              <a:rPr lang="en-US" smtClean="0"/>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496570-AC4C-4289-BCF3-085AD5F3A77D}"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89570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FF667A-006E-4FD7-8A51-E83BE9CC9590}" type="datetimeFigureOut">
              <a:rPr lang="en-US" smtClean="0"/>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496570-AC4C-4289-BCF3-085AD5F3A77D}" type="slidenum">
              <a:rPr lang="en-US" smtClean="0"/>
              <a:t>‹#›</a:t>
            </a:fld>
            <a:endParaRPr lang="en-US"/>
          </a:p>
        </p:txBody>
      </p:sp>
    </p:spTree>
    <p:extLst>
      <p:ext uri="{BB962C8B-B14F-4D97-AF65-F5344CB8AC3E}">
        <p14:creationId xmlns:p14="http://schemas.microsoft.com/office/powerpoint/2010/main" val="65101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2FF667A-006E-4FD7-8A51-E83BE9CC9590}"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496570-AC4C-4289-BCF3-085AD5F3A77D}"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3187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2FF667A-006E-4FD7-8A51-E83BE9CC9590}" type="datetimeFigureOut">
              <a:rPr lang="en-US" smtClean="0"/>
              <a:t>3/8/2026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45496570-AC4C-4289-BCF3-085AD5F3A77D}"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5988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FF667A-006E-4FD7-8A51-E83BE9CC9590}"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496570-AC4C-4289-BCF3-085AD5F3A77D}"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34360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FF667A-006E-4FD7-8A51-E83BE9CC9590}"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496570-AC4C-4289-BCF3-085AD5F3A77D}"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3894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2FF667A-006E-4FD7-8A51-E83BE9CC9590}" type="datetimeFigureOut">
              <a:rPr lang="en-US" smtClean="0"/>
              <a:t>3/8/2026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5496570-AC4C-4289-BCF3-085AD5F3A77D}"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075681"/>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9274B-3E05-4029-A3EA-135A3BBB4214}"/>
              </a:ext>
            </a:extLst>
          </p:cNvPr>
          <p:cNvSpPr>
            <a:spLocks noGrp="1"/>
          </p:cNvSpPr>
          <p:nvPr>
            <p:ph type="ctrTitle"/>
          </p:nvPr>
        </p:nvSpPr>
        <p:spPr/>
        <p:txBody>
          <a:bodyPr>
            <a:normAutofit fontScale="90000"/>
          </a:bodyPr>
          <a:lstStyle/>
          <a:p>
            <a:r>
              <a:rPr lang="en-US" dirty="0"/>
              <a:t>Cross-Platform Budgeting Application</a:t>
            </a:r>
          </a:p>
        </p:txBody>
      </p:sp>
      <p:sp>
        <p:nvSpPr>
          <p:cNvPr id="3" name="Subtitle 2">
            <a:extLst>
              <a:ext uri="{FF2B5EF4-FFF2-40B4-BE49-F238E27FC236}">
                <a16:creationId xmlns:a16="http://schemas.microsoft.com/office/drawing/2014/main" id="{ADBA7CB8-8773-46A3-A7A1-59D1ECE05D4C}"/>
              </a:ext>
            </a:extLst>
          </p:cNvPr>
          <p:cNvSpPr>
            <a:spLocks noGrp="1"/>
          </p:cNvSpPr>
          <p:nvPr>
            <p:ph type="subTitle" idx="1"/>
          </p:nvPr>
        </p:nvSpPr>
        <p:spPr/>
        <p:txBody>
          <a:bodyPr>
            <a:normAutofit fontScale="77500" lnSpcReduction="20000"/>
          </a:bodyPr>
          <a:lstStyle/>
          <a:p>
            <a:r>
              <a:rPr lang="en-US" dirty="0" err="1"/>
              <a:t>Karunakar</a:t>
            </a:r>
            <a:r>
              <a:rPr lang="en-US" dirty="0"/>
              <a:t> Reddy </a:t>
            </a:r>
            <a:r>
              <a:rPr lang="en-US" dirty="0" err="1"/>
              <a:t>Kaitha</a:t>
            </a:r>
            <a:r>
              <a:rPr lang="en-US" dirty="0"/>
              <a:t>, Jordan Lee and John Lim</a:t>
            </a:r>
          </a:p>
          <a:p>
            <a:r>
              <a:rPr lang="en-US" dirty="0"/>
              <a:t>MSSE 692: Software Engineering Practicum I</a:t>
            </a:r>
            <a:br>
              <a:rPr lang="en-US" dirty="0"/>
            </a:br>
            <a:r>
              <a:rPr lang="en-US" dirty="0"/>
              <a:t>Week 8 Final Presentation</a:t>
            </a:r>
          </a:p>
        </p:txBody>
      </p:sp>
    </p:spTree>
    <p:extLst>
      <p:ext uri="{BB962C8B-B14F-4D97-AF65-F5344CB8AC3E}">
        <p14:creationId xmlns:p14="http://schemas.microsoft.com/office/powerpoint/2010/main" val="3937082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3EFE9-10DA-4B33-9EE8-B75F4A4B1BA1}"/>
              </a:ext>
            </a:extLst>
          </p:cNvPr>
          <p:cNvSpPr>
            <a:spLocks noGrp="1"/>
          </p:cNvSpPr>
          <p:nvPr>
            <p:ph type="ctrTitle"/>
          </p:nvPr>
        </p:nvSpPr>
        <p:spPr/>
        <p:txBody>
          <a:bodyPr/>
          <a:lstStyle/>
          <a:p>
            <a:r>
              <a:rPr lang="en-US" dirty="0"/>
              <a:t>Presentation Agenda</a:t>
            </a:r>
          </a:p>
        </p:txBody>
      </p:sp>
      <p:sp>
        <p:nvSpPr>
          <p:cNvPr id="4" name="Rectangle 1">
            <a:extLst>
              <a:ext uri="{FF2B5EF4-FFF2-40B4-BE49-F238E27FC236}">
                <a16:creationId xmlns:a16="http://schemas.microsoft.com/office/drawing/2014/main" id="{E6A76EBB-72D2-47D7-8857-B69C9C220983}"/>
              </a:ext>
            </a:extLst>
          </p:cNvPr>
          <p:cNvSpPr>
            <a:spLocks noGrp="1" noChangeArrowheads="1"/>
          </p:cNvSpPr>
          <p:nvPr>
            <p:ph type="subTitle" idx="1"/>
          </p:nvPr>
        </p:nvSpPr>
        <p:spPr bwMode="auto">
          <a:xfrm>
            <a:off x="1524000" y="4270391"/>
            <a:ext cx="424107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l" eaLnBrk="0" fontAlgn="base" hangingPunct="0">
              <a:lnSpc>
                <a:spcPct val="100000"/>
              </a:lnSpc>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Arial" panose="020B0604020202020204" pitchFamily="34" charset="0"/>
              </a:rPr>
              <a:t>Our Solution</a:t>
            </a:r>
          </a:p>
          <a:p>
            <a:pPr marL="285750" indent="-285750" algn="l" eaLnBrk="0" fontAlgn="base" hangingPunct="0">
              <a:lnSpc>
                <a:spcPct val="100000"/>
              </a:lnSpc>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Arial" panose="020B0604020202020204" pitchFamily="34" charset="0"/>
              </a:rPr>
              <a:t>System Architecture</a:t>
            </a:r>
          </a:p>
          <a:p>
            <a:pPr marL="285750" indent="-285750" algn="l" eaLnBrk="0" fontAlgn="base" hangingPunct="0">
              <a:lnSpc>
                <a:spcPct val="100000"/>
              </a:lnSpc>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Arial" panose="020B0604020202020204" pitchFamily="34" charset="0"/>
              </a:rPr>
              <a:t>Technology Stack</a:t>
            </a:r>
          </a:p>
          <a:p>
            <a:pPr marL="285750" indent="-285750" algn="l" eaLnBrk="0" fontAlgn="base" hangingPunct="0">
              <a:lnSpc>
                <a:spcPct val="100000"/>
              </a:lnSpc>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Arial" panose="020B0604020202020204" pitchFamily="34" charset="0"/>
              </a:rPr>
              <a:t>Live System Demo</a:t>
            </a:r>
          </a:p>
        </p:txBody>
      </p:sp>
      <p:sp>
        <p:nvSpPr>
          <p:cNvPr id="5" name="Rectangle 4">
            <a:extLst>
              <a:ext uri="{FF2B5EF4-FFF2-40B4-BE49-F238E27FC236}">
                <a16:creationId xmlns:a16="http://schemas.microsoft.com/office/drawing/2014/main" id="{CB619E37-789F-44EC-B1D7-2E6CE03EB968}"/>
              </a:ext>
            </a:extLst>
          </p:cNvPr>
          <p:cNvSpPr/>
          <p:nvPr/>
        </p:nvSpPr>
        <p:spPr>
          <a:xfrm>
            <a:off x="7010401" y="4270391"/>
            <a:ext cx="5181599" cy="1815882"/>
          </a:xfrm>
          <a:prstGeom prst="rect">
            <a:avLst/>
          </a:prstGeom>
        </p:spPr>
        <p:txBody>
          <a:bodyPr wrap="square">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800" dirty="0">
                <a:latin typeface="Arial" panose="020B0604020202020204" pitchFamily="34" charset="0"/>
              </a:rPr>
              <a:t>Challenges &amp; Lessons Learned</a:t>
            </a:r>
          </a:p>
          <a:p>
            <a:pPr marL="342900" lvl="0" indent="-342900" eaLnBrk="0" fontAlgn="base" hangingPunct="0">
              <a:spcBef>
                <a:spcPct val="0"/>
              </a:spcBef>
              <a:spcAft>
                <a:spcPct val="0"/>
              </a:spcAft>
              <a:buFont typeface="Arial" panose="020B0604020202020204" pitchFamily="34" charset="0"/>
              <a:buChar char="•"/>
            </a:pPr>
            <a:r>
              <a:rPr lang="en-US" altLang="en-US" sz="2800" dirty="0">
                <a:latin typeface="Arial" panose="020B0604020202020204" pitchFamily="34" charset="0"/>
              </a:rPr>
              <a:t>Results &amp; Impact</a:t>
            </a:r>
          </a:p>
          <a:p>
            <a:pPr marL="342900" lvl="0" indent="-342900" eaLnBrk="0" fontAlgn="base" hangingPunct="0">
              <a:spcBef>
                <a:spcPct val="0"/>
              </a:spcBef>
              <a:spcAft>
                <a:spcPct val="0"/>
              </a:spcAft>
              <a:buFont typeface="Arial" panose="020B0604020202020204" pitchFamily="34" charset="0"/>
              <a:buChar char="•"/>
            </a:pPr>
            <a:r>
              <a:rPr lang="en-US" altLang="en-US" sz="2800" dirty="0">
                <a:latin typeface="Arial" panose="020B0604020202020204" pitchFamily="34" charset="0"/>
              </a:rPr>
              <a:t>Future Improvements</a:t>
            </a:r>
          </a:p>
        </p:txBody>
      </p:sp>
      <p:sp>
        <p:nvSpPr>
          <p:cNvPr id="6" name="Rectangle 5">
            <a:extLst>
              <a:ext uri="{FF2B5EF4-FFF2-40B4-BE49-F238E27FC236}">
                <a16:creationId xmlns:a16="http://schemas.microsoft.com/office/drawing/2014/main" id="{FD0776DE-C42A-4E73-BF1D-A0032B38946F}"/>
              </a:ext>
            </a:extLst>
          </p:cNvPr>
          <p:cNvSpPr/>
          <p:nvPr/>
        </p:nvSpPr>
        <p:spPr>
          <a:xfrm>
            <a:off x="1455752" y="3628567"/>
            <a:ext cx="3122971" cy="523220"/>
          </a:xfrm>
          <a:prstGeom prst="rect">
            <a:avLst/>
          </a:prstGeom>
        </p:spPr>
        <p:txBody>
          <a:bodyPr wrap="none">
            <a:spAutoFit/>
          </a:bodyPr>
          <a:lstStyle/>
          <a:p>
            <a:pPr lvl="0"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Problem Overview</a:t>
            </a:r>
          </a:p>
        </p:txBody>
      </p:sp>
    </p:spTree>
    <p:extLst>
      <p:ext uri="{BB962C8B-B14F-4D97-AF65-F5344CB8AC3E}">
        <p14:creationId xmlns:p14="http://schemas.microsoft.com/office/powerpoint/2010/main" val="805538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1B07B-9195-4B6A-8337-91BFF80A1361}"/>
              </a:ext>
            </a:extLst>
          </p:cNvPr>
          <p:cNvSpPr>
            <a:spLocks noGrp="1"/>
          </p:cNvSpPr>
          <p:nvPr>
            <p:ph type="title"/>
          </p:nvPr>
        </p:nvSpPr>
        <p:spPr/>
        <p:txBody>
          <a:bodyPr/>
          <a:lstStyle/>
          <a:p>
            <a:r>
              <a:rPr kumimoji="0" lang="en-US" altLang="en-US" b="0" i="0" u="none" strike="noStrike" cap="none" normalizeH="0" baseline="0" dirty="0">
                <a:ln>
                  <a:noFill/>
                </a:ln>
                <a:solidFill>
                  <a:schemeClr val="tx1"/>
                </a:solidFill>
                <a:effectLst/>
                <a:latin typeface="Arial" panose="020B0604020202020204" pitchFamily="34" charset="0"/>
              </a:rPr>
              <a:t>Problem Overview</a:t>
            </a:r>
            <a:endParaRPr lang="en-US" dirty="0"/>
          </a:p>
        </p:txBody>
      </p:sp>
      <p:sp>
        <p:nvSpPr>
          <p:cNvPr id="3" name="Content Placeholder 2">
            <a:extLst>
              <a:ext uri="{FF2B5EF4-FFF2-40B4-BE49-F238E27FC236}">
                <a16:creationId xmlns:a16="http://schemas.microsoft.com/office/drawing/2014/main" id="{5384B0CD-3889-4004-95F5-377A9BB29C55}"/>
              </a:ext>
            </a:extLst>
          </p:cNvPr>
          <p:cNvSpPr>
            <a:spLocks noGrp="1"/>
          </p:cNvSpPr>
          <p:nvPr>
            <p:ph idx="1"/>
          </p:nvPr>
        </p:nvSpPr>
        <p:spPr/>
        <p:txBody>
          <a:bodyPr/>
          <a:lstStyle/>
          <a:p>
            <a:pPr marL="0" indent="0">
              <a:buNone/>
            </a:pPr>
            <a:r>
              <a:rPr lang="en-US" dirty="0"/>
              <a:t>Many individuals struggle with tracking personal finances consistently.</a:t>
            </a:r>
          </a:p>
          <a:p>
            <a:pPr marL="0" indent="0">
              <a:buNone/>
            </a:pPr>
            <a:r>
              <a:rPr lang="en-US" dirty="0"/>
              <a:t>Common problems include:</a:t>
            </a:r>
          </a:p>
          <a:p>
            <a:pPr lvl="1"/>
            <a:r>
              <a:rPr lang="en-US" dirty="0"/>
              <a:t>No centralized budget tracking</a:t>
            </a:r>
          </a:p>
          <a:p>
            <a:pPr lvl="1"/>
            <a:r>
              <a:rPr lang="en-US" dirty="0"/>
              <a:t>Poor visibility of monthly spending</a:t>
            </a:r>
          </a:p>
          <a:p>
            <a:pPr lvl="1"/>
            <a:r>
              <a:rPr lang="en-US" dirty="0"/>
              <a:t>Manual tracking methods (spreadsheets)</a:t>
            </a:r>
          </a:p>
          <a:p>
            <a:pPr lvl="1"/>
            <a:r>
              <a:rPr lang="en-US" dirty="0"/>
              <a:t>Lack of simple cross-device tools</a:t>
            </a:r>
          </a:p>
          <a:p>
            <a:pPr marL="0" indent="0">
              <a:buNone/>
            </a:pPr>
            <a:r>
              <a:rPr lang="en-US" dirty="0"/>
              <a:t>Users need a simple, accessible budgeting system.</a:t>
            </a:r>
          </a:p>
          <a:p>
            <a:pPr marL="0" indent="0">
              <a:buNone/>
            </a:pPr>
            <a:endParaRPr lang="en-US" dirty="0"/>
          </a:p>
        </p:txBody>
      </p:sp>
    </p:spTree>
    <p:extLst>
      <p:ext uri="{BB962C8B-B14F-4D97-AF65-F5344CB8AC3E}">
        <p14:creationId xmlns:p14="http://schemas.microsoft.com/office/powerpoint/2010/main" val="180927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06248-60AB-4D45-AD1F-7C7B44CFAC22}"/>
              </a:ext>
            </a:extLst>
          </p:cNvPr>
          <p:cNvSpPr>
            <a:spLocks noGrp="1"/>
          </p:cNvSpPr>
          <p:nvPr>
            <p:ph type="title"/>
          </p:nvPr>
        </p:nvSpPr>
        <p:spPr/>
        <p:txBody>
          <a:bodyPr/>
          <a:lstStyle/>
          <a:p>
            <a:r>
              <a:rPr lang="en-US" dirty="0"/>
              <a:t>Our Solution</a:t>
            </a:r>
          </a:p>
        </p:txBody>
      </p:sp>
      <p:sp>
        <p:nvSpPr>
          <p:cNvPr id="3" name="Content Placeholder 2">
            <a:extLst>
              <a:ext uri="{FF2B5EF4-FFF2-40B4-BE49-F238E27FC236}">
                <a16:creationId xmlns:a16="http://schemas.microsoft.com/office/drawing/2014/main" id="{8F3AABF1-BB60-48A8-AFDF-ABD38F6CE306}"/>
              </a:ext>
            </a:extLst>
          </p:cNvPr>
          <p:cNvSpPr>
            <a:spLocks noGrp="1"/>
          </p:cNvSpPr>
          <p:nvPr>
            <p:ph idx="1"/>
          </p:nvPr>
        </p:nvSpPr>
        <p:spPr/>
        <p:txBody>
          <a:bodyPr>
            <a:normAutofit fontScale="92500" lnSpcReduction="20000"/>
          </a:bodyPr>
          <a:lstStyle/>
          <a:p>
            <a:pPr marL="0" indent="0">
              <a:buNone/>
            </a:pPr>
            <a:r>
              <a:rPr lang="en-US" dirty="0"/>
              <a:t>We developed a Cross-Platform Budgeting Application that allows users to:</a:t>
            </a:r>
          </a:p>
          <a:p>
            <a:pPr lvl="1"/>
            <a:r>
              <a:rPr lang="en-US" dirty="0"/>
              <a:t>Create and manage budgets</a:t>
            </a:r>
          </a:p>
          <a:p>
            <a:pPr lvl="1"/>
            <a:r>
              <a:rPr lang="en-US" dirty="0"/>
              <a:t>Track expenses</a:t>
            </a:r>
          </a:p>
          <a:p>
            <a:pPr lvl="1"/>
            <a:r>
              <a:rPr lang="en-US" dirty="0"/>
              <a:t>View spending summaries</a:t>
            </a:r>
          </a:p>
          <a:p>
            <a:pPr lvl="1"/>
            <a:r>
              <a:rPr lang="en-US" dirty="0"/>
              <a:t>Access the system from mobile or web</a:t>
            </a:r>
          </a:p>
          <a:p>
            <a:pPr marL="0" indent="0">
              <a:buNone/>
            </a:pPr>
            <a:r>
              <a:rPr lang="en-US" dirty="0"/>
              <a:t>Key characteristics:</a:t>
            </a:r>
          </a:p>
          <a:p>
            <a:pPr lvl="1"/>
            <a:r>
              <a:rPr lang="en-US" dirty="0"/>
              <a:t>Cloud-hosted</a:t>
            </a:r>
          </a:p>
          <a:p>
            <a:pPr lvl="1"/>
            <a:r>
              <a:rPr lang="en-US" dirty="0"/>
              <a:t>Responsive UI</a:t>
            </a:r>
          </a:p>
          <a:p>
            <a:pPr lvl="1"/>
            <a:r>
              <a:rPr lang="en-US" dirty="0"/>
              <a:t>Secure authentication</a:t>
            </a:r>
          </a:p>
          <a:p>
            <a:pPr lvl="1"/>
            <a:r>
              <a:rPr lang="en-US" dirty="0"/>
              <a:t>Real-time financial tracking</a:t>
            </a:r>
          </a:p>
          <a:p>
            <a:pPr marL="0" indent="0">
              <a:buNone/>
            </a:pPr>
            <a:endParaRPr lang="en-US" dirty="0"/>
          </a:p>
        </p:txBody>
      </p:sp>
    </p:spTree>
    <p:extLst>
      <p:ext uri="{BB962C8B-B14F-4D97-AF65-F5344CB8AC3E}">
        <p14:creationId xmlns:p14="http://schemas.microsoft.com/office/powerpoint/2010/main" val="575382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68838-55DB-4CA0-AA0C-A7E6E162EF04}"/>
              </a:ext>
            </a:extLst>
          </p:cNvPr>
          <p:cNvSpPr>
            <a:spLocks noGrp="1"/>
          </p:cNvSpPr>
          <p:nvPr>
            <p:ph type="title"/>
          </p:nvPr>
        </p:nvSpPr>
        <p:spPr/>
        <p:txBody>
          <a:bodyPr/>
          <a:lstStyle/>
          <a:p>
            <a:r>
              <a:rPr lang="en-US" dirty="0"/>
              <a:t>Key Features</a:t>
            </a:r>
          </a:p>
        </p:txBody>
      </p:sp>
      <p:sp>
        <p:nvSpPr>
          <p:cNvPr id="3" name="Content Placeholder 2">
            <a:extLst>
              <a:ext uri="{FF2B5EF4-FFF2-40B4-BE49-F238E27FC236}">
                <a16:creationId xmlns:a16="http://schemas.microsoft.com/office/drawing/2014/main" id="{7F5704DF-F388-410C-9931-07DD7911CE4D}"/>
              </a:ext>
            </a:extLst>
          </p:cNvPr>
          <p:cNvSpPr>
            <a:spLocks noGrp="1"/>
          </p:cNvSpPr>
          <p:nvPr>
            <p:ph idx="1"/>
          </p:nvPr>
        </p:nvSpPr>
        <p:spPr/>
        <p:txBody>
          <a:bodyPr>
            <a:normAutofit fontScale="62500" lnSpcReduction="20000"/>
          </a:bodyPr>
          <a:lstStyle/>
          <a:p>
            <a:pPr marL="0" indent="0">
              <a:buNone/>
            </a:pPr>
            <a:r>
              <a:rPr lang="en-US" dirty="0"/>
              <a:t>Core system features include:</a:t>
            </a:r>
          </a:p>
          <a:p>
            <a:pPr marL="0" indent="0">
              <a:buNone/>
            </a:pPr>
            <a:r>
              <a:rPr lang="en-US" dirty="0"/>
              <a:t>User Account Management</a:t>
            </a:r>
          </a:p>
          <a:p>
            <a:pPr lvl="1"/>
            <a:r>
              <a:rPr lang="en-US" dirty="0"/>
              <a:t>Secure login and authentication</a:t>
            </a:r>
          </a:p>
          <a:p>
            <a:pPr marL="0" indent="0">
              <a:buNone/>
            </a:pPr>
            <a:r>
              <a:rPr lang="en-US" dirty="0"/>
              <a:t>Budget Management</a:t>
            </a:r>
          </a:p>
          <a:p>
            <a:pPr lvl="1"/>
            <a:r>
              <a:rPr lang="en-US" dirty="0"/>
              <a:t>Create monthly budgets</a:t>
            </a:r>
          </a:p>
          <a:p>
            <a:pPr lvl="1"/>
            <a:r>
              <a:rPr lang="en-US" dirty="0"/>
              <a:t>Modify budget limits</a:t>
            </a:r>
          </a:p>
          <a:p>
            <a:pPr marL="0" indent="0">
              <a:buNone/>
            </a:pPr>
            <a:r>
              <a:rPr lang="en-US" dirty="0"/>
              <a:t>Expense Tracking</a:t>
            </a:r>
          </a:p>
          <a:p>
            <a:pPr lvl="1"/>
            <a:r>
              <a:rPr lang="en-US" dirty="0"/>
              <a:t>Add expenses</a:t>
            </a:r>
          </a:p>
          <a:p>
            <a:pPr lvl="1"/>
            <a:r>
              <a:rPr lang="en-US" dirty="0"/>
              <a:t>Categorize spending</a:t>
            </a:r>
          </a:p>
          <a:p>
            <a:pPr marL="0" indent="0">
              <a:buNone/>
            </a:pPr>
            <a:r>
              <a:rPr lang="en-US" dirty="0"/>
              <a:t>Dashboard Summary</a:t>
            </a:r>
          </a:p>
          <a:p>
            <a:pPr lvl="1"/>
            <a:r>
              <a:rPr lang="en-US" dirty="0"/>
              <a:t>Overview of financial activity</a:t>
            </a:r>
          </a:p>
          <a:p>
            <a:pPr lvl="1"/>
            <a:r>
              <a:rPr lang="en-US" dirty="0"/>
              <a:t>Budget vs actual spending</a:t>
            </a:r>
          </a:p>
          <a:p>
            <a:pPr marL="0" indent="0">
              <a:buNone/>
            </a:pPr>
            <a:endParaRPr lang="en-US" dirty="0"/>
          </a:p>
        </p:txBody>
      </p:sp>
    </p:spTree>
    <p:extLst>
      <p:ext uri="{BB962C8B-B14F-4D97-AF65-F5344CB8AC3E}">
        <p14:creationId xmlns:p14="http://schemas.microsoft.com/office/powerpoint/2010/main" val="983623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42FF4-B950-4F86-AEBE-82F2692CBCC4}"/>
              </a:ext>
            </a:extLst>
          </p:cNvPr>
          <p:cNvSpPr>
            <a:spLocks noGrp="1"/>
          </p:cNvSpPr>
          <p:nvPr>
            <p:ph type="title"/>
          </p:nvPr>
        </p:nvSpPr>
        <p:spPr/>
        <p:txBody>
          <a:bodyPr/>
          <a:lstStyle/>
          <a:p>
            <a:r>
              <a:rPr lang="en-US" dirty="0"/>
              <a:t>System Architecture</a:t>
            </a:r>
          </a:p>
        </p:txBody>
      </p:sp>
      <p:sp>
        <p:nvSpPr>
          <p:cNvPr id="3" name="Content Placeholder 2">
            <a:extLst>
              <a:ext uri="{FF2B5EF4-FFF2-40B4-BE49-F238E27FC236}">
                <a16:creationId xmlns:a16="http://schemas.microsoft.com/office/drawing/2014/main" id="{41927A1C-2DDB-424F-B6FC-376AA53FA6D6}"/>
              </a:ext>
            </a:extLst>
          </p:cNvPr>
          <p:cNvSpPr>
            <a:spLocks noGrp="1"/>
          </p:cNvSpPr>
          <p:nvPr>
            <p:ph idx="1"/>
          </p:nvPr>
        </p:nvSpPr>
        <p:spPr/>
        <p:txBody>
          <a:bodyPr>
            <a:normAutofit fontScale="70000" lnSpcReduction="20000"/>
          </a:bodyPr>
          <a:lstStyle/>
          <a:p>
            <a:pPr marL="0" indent="0">
              <a:buNone/>
            </a:pPr>
            <a:r>
              <a:rPr lang="en-US" dirty="0"/>
              <a:t>Architecture components:</a:t>
            </a:r>
          </a:p>
          <a:p>
            <a:pPr marL="0" indent="0">
              <a:buNone/>
            </a:pPr>
            <a:r>
              <a:rPr lang="en-US" dirty="0"/>
              <a:t>Frontend</a:t>
            </a:r>
          </a:p>
          <a:p>
            <a:pPr lvl="1"/>
            <a:r>
              <a:rPr lang="en-US" dirty="0"/>
              <a:t>React web interface</a:t>
            </a:r>
          </a:p>
          <a:p>
            <a:pPr lvl="1"/>
            <a:r>
              <a:rPr lang="en-US" dirty="0"/>
              <a:t>Responsive design for mobile</a:t>
            </a:r>
          </a:p>
          <a:p>
            <a:pPr marL="0" indent="0">
              <a:buNone/>
            </a:pPr>
            <a:r>
              <a:rPr lang="en-US" dirty="0"/>
              <a:t>Backend</a:t>
            </a:r>
          </a:p>
          <a:p>
            <a:pPr lvl="1"/>
            <a:r>
              <a:rPr lang="en-US" dirty="0" err="1"/>
              <a:t>FastAPI</a:t>
            </a:r>
            <a:r>
              <a:rPr lang="en-US" dirty="0"/>
              <a:t> REST API</a:t>
            </a:r>
          </a:p>
          <a:p>
            <a:pPr marL="0" indent="0">
              <a:buNone/>
            </a:pPr>
            <a:r>
              <a:rPr lang="en-US" dirty="0"/>
              <a:t>Database</a:t>
            </a:r>
          </a:p>
          <a:p>
            <a:pPr lvl="1"/>
            <a:r>
              <a:rPr lang="en-US" dirty="0"/>
              <a:t>PostgreSQL</a:t>
            </a:r>
          </a:p>
          <a:p>
            <a:pPr marL="0" indent="0">
              <a:buNone/>
            </a:pPr>
            <a:r>
              <a:rPr lang="en-US" dirty="0"/>
              <a:t>Cloud Hosting</a:t>
            </a:r>
          </a:p>
          <a:p>
            <a:pPr lvl="1"/>
            <a:r>
              <a:rPr lang="en-US" dirty="0" err="1"/>
              <a:t>Vercel</a:t>
            </a:r>
            <a:r>
              <a:rPr lang="en-US" dirty="0"/>
              <a:t> (frontend)</a:t>
            </a:r>
          </a:p>
          <a:p>
            <a:pPr lvl="1"/>
            <a:r>
              <a:rPr lang="en-US" dirty="0"/>
              <a:t>Render (backend)</a:t>
            </a:r>
          </a:p>
          <a:p>
            <a:pPr marL="0" indent="0">
              <a:buNone/>
            </a:pPr>
            <a:endParaRPr lang="en-US" dirty="0"/>
          </a:p>
        </p:txBody>
      </p:sp>
    </p:spTree>
    <p:extLst>
      <p:ext uri="{BB962C8B-B14F-4D97-AF65-F5344CB8AC3E}">
        <p14:creationId xmlns:p14="http://schemas.microsoft.com/office/powerpoint/2010/main" val="3138827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ED5F1-158F-41C3-B556-71436A1FDC2F}"/>
              </a:ext>
            </a:extLst>
          </p:cNvPr>
          <p:cNvSpPr>
            <a:spLocks noGrp="1"/>
          </p:cNvSpPr>
          <p:nvPr>
            <p:ph type="title"/>
          </p:nvPr>
        </p:nvSpPr>
        <p:spPr/>
        <p:txBody>
          <a:bodyPr/>
          <a:lstStyle/>
          <a:p>
            <a:r>
              <a:rPr lang="en-US" b="1" dirty="0"/>
              <a:t>Architecture Diagram</a:t>
            </a:r>
            <a:endParaRPr lang="en-US" dirty="0"/>
          </a:p>
        </p:txBody>
      </p:sp>
      <p:sp>
        <p:nvSpPr>
          <p:cNvPr id="3" name="Content Placeholder 2">
            <a:extLst>
              <a:ext uri="{FF2B5EF4-FFF2-40B4-BE49-F238E27FC236}">
                <a16:creationId xmlns:a16="http://schemas.microsoft.com/office/drawing/2014/main" id="{F2D31D88-E148-41C1-B9DC-58F90AD10F47}"/>
              </a:ext>
            </a:extLst>
          </p:cNvPr>
          <p:cNvSpPr>
            <a:spLocks noGrp="1"/>
          </p:cNvSpPr>
          <p:nvPr>
            <p:ph sz="half" idx="1"/>
          </p:nvPr>
        </p:nvSpPr>
        <p:spPr/>
        <p:txBody>
          <a:bodyPr>
            <a:normAutofit fontScale="85000" lnSpcReduction="20000"/>
          </a:bodyPr>
          <a:lstStyle/>
          <a:p>
            <a:pPr marL="0" indent="0">
              <a:buNone/>
            </a:pPr>
            <a:r>
              <a:rPr lang="en-US" dirty="0"/>
              <a:t>The application follows a layered architecture that separates the user interface, application logic, and data storage. The React frontend handles user interactions and sends requests to the </a:t>
            </a:r>
            <a:r>
              <a:rPr lang="en-US" dirty="0" err="1"/>
              <a:t>FastAPI</a:t>
            </a:r>
            <a:r>
              <a:rPr lang="en-US" dirty="0"/>
              <a:t> backend through REST APIs. The backend processes business logic such as authentication, budgeting operations, and expense calculations, then communicates with the PostgreSQL database to store and retrieve data. This separation of concerns improves scalability, maintainability, and security by ensuring each layer has a clearly defined responsibility.</a:t>
            </a:r>
          </a:p>
        </p:txBody>
      </p:sp>
      <p:pic>
        <p:nvPicPr>
          <p:cNvPr id="7" name="Content Placeholder 6">
            <a:extLst>
              <a:ext uri="{FF2B5EF4-FFF2-40B4-BE49-F238E27FC236}">
                <a16:creationId xmlns:a16="http://schemas.microsoft.com/office/drawing/2014/main" id="{C326ED70-6E2C-4D71-988A-8CF40E7E1967}"/>
              </a:ext>
            </a:extLst>
          </p:cNvPr>
          <p:cNvPicPr>
            <a:picLocks noGrp="1"/>
          </p:cNvPicPr>
          <p:nvPr>
            <p:ph sz="half" idx="2"/>
          </p:nvPr>
        </p:nvPicPr>
        <p:blipFill rotWithShape="1">
          <a:blip r:embed="rId2">
            <a:extLst>
              <a:ext uri="{28A0092B-C50C-407E-A947-70E740481C1C}">
                <a14:useLocalDpi xmlns:a14="http://schemas.microsoft.com/office/drawing/2010/main" val="0"/>
              </a:ext>
            </a:extLst>
          </a:blip>
          <a:srcRect t="8242"/>
          <a:stretch/>
        </p:blipFill>
        <p:spPr>
          <a:xfrm>
            <a:off x="6596253" y="2142309"/>
            <a:ext cx="4645025" cy="2990902"/>
          </a:xfrm>
          <a:prstGeom prst="rect">
            <a:avLst/>
          </a:prstGeom>
        </p:spPr>
      </p:pic>
    </p:spTree>
    <p:extLst>
      <p:ext uri="{BB962C8B-B14F-4D97-AF65-F5344CB8AC3E}">
        <p14:creationId xmlns:p14="http://schemas.microsoft.com/office/powerpoint/2010/main" val="3389377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57ED3-AEAF-46C6-BFAC-E94DB18E83C2}"/>
              </a:ext>
            </a:extLst>
          </p:cNvPr>
          <p:cNvSpPr>
            <a:spLocks noGrp="1"/>
          </p:cNvSpPr>
          <p:nvPr>
            <p:ph type="title"/>
          </p:nvPr>
        </p:nvSpPr>
        <p:spPr/>
        <p:txBody>
          <a:bodyPr/>
          <a:lstStyle/>
          <a:p>
            <a:r>
              <a:rPr lang="en-US" dirty="0"/>
              <a:t>Technology Stack</a:t>
            </a:r>
          </a:p>
        </p:txBody>
      </p:sp>
      <p:sp>
        <p:nvSpPr>
          <p:cNvPr id="3" name="Content Placeholder 2">
            <a:extLst>
              <a:ext uri="{FF2B5EF4-FFF2-40B4-BE49-F238E27FC236}">
                <a16:creationId xmlns:a16="http://schemas.microsoft.com/office/drawing/2014/main" id="{B46FA54C-21DF-4E72-934E-08BEA7D91DF4}"/>
              </a:ext>
            </a:extLst>
          </p:cNvPr>
          <p:cNvSpPr>
            <a:spLocks noGrp="1"/>
          </p:cNvSpPr>
          <p:nvPr>
            <p:ph sz="half" idx="1"/>
          </p:nvPr>
        </p:nvSpPr>
        <p:spPr/>
        <p:txBody>
          <a:bodyPr>
            <a:normAutofit fontScale="92500" lnSpcReduction="10000"/>
          </a:bodyPr>
          <a:lstStyle/>
          <a:p>
            <a:pPr marL="0" indent="0">
              <a:buNone/>
            </a:pPr>
            <a:r>
              <a:rPr lang="en-US" dirty="0"/>
              <a:t>Frontend</a:t>
            </a:r>
          </a:p>
          <a:p>
            <a:pPr lvl="1"/>
            <a:r>
              <a:rPr lang="en-US" dirty="0"/>
              <a:t>React</a:t>
            </a:r>
          </a:p>
          <a:p>
            <a:pPr lvl="1"/>
            <a:r>
              <a:rPr lang="en-US" dirty="0"/>
              <a:t>JavaScript</a:t>
            </a:r>
          </a:p>
          <a:p>
            <a:pPr lvl="1"/>
            <a:r>
              <a:rPr lang="en-US" dirty="0"/>
              <a:t>HTML / CSS</a:t>
            </a:r>
          </a:p>
          <a:p>
            <a:pPr marL="0" indent="0">
              <a:buNone/>
            </a:pPr>
            <a:r>
              <a:rPr lang="en-US" dirty="0"/>
              <a:t>Backend</a:t>
            </a:r>
          </a:p>
          <a:p>
            <a:pPr lvl="1"/>
            <a:r>
              <a:rPr lang="en-US" dirty="0"/>
              <a:t>Python</a:t>
            </a:r>
          </a:p>
          <a:p>
            <a:pPr lvl="1"/>
            <a:r>
              <a:rPr lang="en-US" dirty="0" err="1"/>
              <a:t>FastAPI</a:t>
            </a:r>
            <a:endParaRPr lang="en-US" dirty="0"/>
          </a:p>
          <a:p>
            <a:pPr marL="0" indent="0">
              <a:buNone/>
            </a:pPr>
            <a:r>
              <a:rPr lang="en-US" dirty="0"/>
              <a:t>Database</a:t>
            </a:r>
          </a:p>
          <a:p>
            <a:pPr lvl="1"/>
            <a:r>
              <a:rPr lang="en-US" dirty="0"/>
              <a:t>PostgreSQL</a:t>
            </a:r>
          </a:p>
          <a:p>
            <a:pPr marL="0" indent="0">
              <a:buNone/>
            </a:pPr>
            <a:endParaRPr lang="en-US" dirty="0"/>
          </a:p>
        </p:txBody>
      </p:sp>
      <p:sp>
        <p:nvSpPr>
          <p:cNvPr id="4" name="Content Placeholder 3">
            <a:extLst>
              <a:ext uri="{FF2B5EF4-FFF2-40B4-BE49-F238E27FC236}">
                <a16:creationId xmlns:a16="http://schemas.microsoft.com/office/drawing/2014/main" id="{D714D843-277D-407C-9108-8DB257CCFAC5}"/>
              </a:ext>
            </a:extLst>
          </p:cNvPr>
          <p:cNvSpPr>
            <a:spLocks noGrp="1"/>
          </p:cNvSpPr>
          <p:nvPr>
            <p:ph sz="half" idx="2"/>
          </p:nvPr>
        </p:nvSpPr>
        <p:spPr/>
        <p:txBody>
          <a:bodyPr>
            <a:normAutofit fontScale="92500" lnSpcReduction="10000"/>
          </a:bodyPr>
          <a:lstStyle/>
          <a:p>
            <a:pPr marL="0" indent="0">
              <a:buNone/>
            </a:pPr>
            <a:r>
              <a:rPr lang="en-US" dirty="0"/>
              <a:t>Infrastructure</a:t>
            </a:r>
          </a:p>
          <a:p>
            <a:pPr lvl="1"/>
            <a:r>
              <a:rPr lang="en-US" dirty="0"/>
              <a:t>Render</a:t>
            </a:r>
          </a:p>
          <a:p>
            <a:pPr lvl="1"/>
            <a:r>
              <a:rPr lang="en-US" dirty="0" err="1"/>
              <a:t>Vercel</a:t>
            </a:r>
            <a:endParaRPr lang="en-US" dirty="0"/>
          </a:p>
          <a:p>
            <a:pPr marL="0" indent="0">
              <a:buNone/>
            </a:pPr>
            <a:r>
              <a:rPr lang="en-US" dirty="0"/>
              <a:t>Testing Tools</a:t>
            </a:r>
          </a:p>
          <a:p>
            <a:pPr lvl="1"/>
            <a:r>
              <a:rPr lang="en-US" dirty="0" err="1"/>
              <a:t>pytest</a:t>
            </a:r>
            <a:endParaRPr lang="en-US" dirty="0"/>
          </a:p>
          <a:p>
            <a:pPr lvl="1"/>
            <a:r>
              <a:rPr lang="en-US" dirty="0"/>
              <a:t>Jest</a:t>
            </a:r>
          </a:p>
          <a:p>
            <a:pPr marL="0" indent="0">
              <a:buNone/>
            </a:pPr>
            <a:endParaRPr lang="en-US" dirty="0"/>
          </a:p>
        </p:txBody>
      </p:sp>
    </p:spTree>
    <p:extLst>
      <p:ext uri="{BB962C8B-B14F-4D97-AF65-F5344CB8AC3E}">
        <p14:creationId xmlns:p14="http://schemas.microsoft.com/office/powerpoint/2010/main" val="927529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31FD6-605B-4DEE-94F4-B582A0AC7FEC}"/>
              </a:ext>
            </a:extLst>
          </p:cNvPr>
          <p:cNvSpPr>
            <a:spLocks noGrp="1"/>
          </p:cNvSpPr>
          <p:nvPr>
            <p:ph type="title"/>
          </p:nvPr>
        </p:nvSpPr>
        <p:spPr/>
        <p:txBody>
          <a:bodyPr/>
          <a:lstStyle/>
          <a:p>
            <a:r>
              <a:rPr lang="en-US" dirty="0"/>
              <a:t>Development Process</a:t>
            </a:r>
          </a:p>
        </p:txBody>
      </p:sp>
      <p:graphicFrame>
        <p:nvGraphicFramePr>
          <p:cNvPr id="4" name="Content Placeholder 3">
            <a:extLst>
              <a:ext uri="{FF2B5EF4-FFF2-40B4-BE49-F238E27FC236}">
                <a16:creationId xmlns:a16="http://schemas.microsoft.com/office/drawing/2014/main" id="{CD6350D5-3DD6-4AA2-9569-AC3E498EEDAB}"/>
              </a:ext>
            </a:extLst>
          </p:cNvPr>
          <p:cNvGraphicFramePr>
            <a:graphicFrameLocks noGrp="1"/>
          </p:cNvGraphicFramePr>
          <p:nvPr>
            <p:ph idx="1"/>
            <p:extLst>
              <p:ext uri="{D42A27DB-BD31-4B8C-83A1-F6EECF244321}">
                <p14:modId xmlns:p14="http://schemas.microsoft.com/office/powerpoint/2010/main" val="1303467337"/>
              </p:ext>
            </p:extLst>
          </p:nvPr>
        </p:nvGraphicFramePr>
        <p:xfrm>
          <a:off x="1450975" y="2016125"/>
          <a:ext cx="9604376" cy="2585720"/>
        </p:xfrm>
        <a:graphic>
          <a:graphicData uri="http://schemas.openxmlformats.org/drawingml/2006/table">
            <a:tbl>
              <a:tblPr firstRow="1" bandRow="1">
                <a:tableStyleId>{21E4AEA4-8DFA-4A89-87EB-49C32662AFE0}</a:tableStyleId>
              </a:tblPr>
              <a:tblGrid>
                <a:gridCol w="4802188">
                  <a:extLst>
                    <a:ext uri="{9D8B030D-6E8A-4147-A177-3AD203B41FA5}">
                      <a16:colId xmlns:a16="http://schemas.microsoft.com/office/drawing/2014/main" val="1311649869"/>
                    </a:ext>
                  </a:extLst>
                </a:gridCol>
                <a:gridCol w="4802188">
                  <a:extLst>
                    <a:ext uri="{9D8B030D-6E8A-4147-A177-3AD203B41FA5}">
                      <a16:colId xmlns:a16="http://schemas.microsoft.com/office/drawing/2014/main" val="727910856"/>
                    </a:ext>
                  </a:extLst>
                </a:gridCol>
              </a:tblGrid>
              <a:tr h="33918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development followed a structured iterative process:</a:t>
                      </a:r>
                    </a:p>
                  </a:txBody>
                  <a:tcPr marL="83515" marR="83515"/>
                </a:tc>
                <a:tc hMerge="1">
                  <a:txBody>
                    <a:bodyPr/>
                    <a:lstStyle/>
                    <a:p>
                      <a:endParaRPr lang="en-US" dirty="0"/>
                    </a:p>
                  </a:txBody>
                  <a:tcPr/>
                </a:tc>
                <a:extLst>
                  <a:ext uri="{0D108BD9-81ED-4DB2-BD59-A6C34878D82A}">
                    <a16:rowId xmlns:a16="http://schemas.microsoft.com/office/drawing/2014/main" val="3849781470"/>
                  </a:ext>
                </a:extLst>
              </a:tr>
              <a:tr h="3391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Week 2 </a:t>
                      </a:r>
                    </a:p>
                  </a:txBody>
                  <a:tcPr marL="83515" marR="8351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Requirements</a:t>
                      </a:r>
                    </a:p>
                  </a:txBody>
                  <a:tcPr marL="83515" marR="83515"/>
                </a:tc>
                <a:extLst>
                  <a:ext uri="{0D108BD9-81ED-4DB2-BD59-A6C34878D82A}">
                    <a16:rowId xmlns:a16="http://schemas.microsoft.com/office/drawing/2014/main" val="2535584589"/>
                  </a:ext>
                </a:extLst>
              </a:tr>
              <a:tr h="370840">
                <a:tc>
                  <a:txBody>
                    <a:bodyPr/>
                    <a:lstStyle/>
                    <a:p>
                      <a:r>
                        <a:rPr lang="en-US" dirty="0"/>
                        <a:t>Week 3 </a:t>
                      </a:r>
                    </a:p>
                  </a:txBody>
                  <a:tcPr marL="83515" marR="83515"/>
                </a:tc>
                <a:tc>
                  <a:txBody>
                    <a:bodyPr/>
                    <a:lstStyle/>
                    <a:p>
                      <a:r>
                        <a:rPr lang="en-US" dirty="0"/>
                        <a:t>Architecture Design</a:t>
                      </a:r>
                    </a:p>
                  </a:txBody>
                  <a:tcPr marL="83515" marR="83515"/>
                </a:tc>
                <a:extLst>
                  <a:ext uri="{0D108BD9-81ED-4DB2-BD59-A6C34878D82A}">
                    <a16:rowId xmlns:a16="http://schemas.microsoft.com/office/drawing/2014/main" val="4281221748"/>
                  </a:ext>
                </a:extLst>
              </a:tr>
              <a:tr h="370840">
                <a:tc>
                  <a:txBody>
                    <a:bodyPr/>
                    <a:lstStyle/>
                    <a:p>
                      <a:r>
                        <a:rPr lang="en-US" dirty="0"/>
                        <a:t>Week 4</a:t>
                      </a:r>
                    </a:p>
                  </a:txBody>
                  <a:tcPr marL="83515" marR="83515"/>
                </a:tc>
                <a:tc>
                  <a:txBody>
                    <a:bodyPr/>
                    <a:lstStyle/>
                    <a:p>
                      <a:r>
                        <a:rPr lang="en-US" dirty="0"/>
                        <a:t>Detailed Design</a:t>
                      </a:r>
                    </a:p>
                  </a:txBody>
                  <a:tcPr marL="83515" marR="83515"/>
                </a:tc>
                <a:extLst>
                  <a:ext uri="{0D108BD9-81ED-4DB2-BD59-A6C34878D82A}">
                    <a16:rowId xmlns:a16="http://schemas.microsoft.com/office/drawing/2014/main" val="2561222613"/>
                  </a:ext>
                </a:extLst>
              </a:tr>
              <a:tr h="370840">
                <a:tc>
                  <a:txBody>
                    <a:bodyPr/>
                    <a:lstStyle/>
                    <a:p>
                      <a:r>
                        <a:rPr lang="en-US" dirty="0"/>
                        <a:t>Week 5-6</a:t>
                      </a:r>
                    </a:p>
                  </a:txBody>
                  <a:tcPr marL="83515" marR="83515"/>
                </a:tc>
                <a:tc>
                  <a:txBody>
                    <a:bodyPr/>
                    <a:lstStyle/>
                    <a:p>
                      <a:r>
                        <a:rPr lang="en-US" dirty="0"/>
                        <a:t>Implementation &amp; Integration</a:t>
                      </a:r>
                    </a:p>
                  </a:txBody>
                  <a:tcPr marL="83515" marR="83515"/>
                </a:tc>
                <a:extLst>
                  <a:ext uri="{0D108BD9-81ED-4DB2-BD59-A6C34878D82A}">
                    <a16:rowId xmlns:a16="http://schemas.microsoft.com/office/drawing/2014/main" val="3307221235"/>
                  </a:ext>
                </a:extLst>
              </a:tr>
              <a:tr h="370840">
                <a:tc>
                  <a:txBody>
                    <a:bodyPr/>
                    <a:lstStyle/>
                    <a:p>
                      <a:r>
                        <a:rPr lang="en-US" dirty="0"/>
                        <a:t>Week 7</a:t>
                      </a:r>
                    </a:p>
                  </a:txBody>
                  <a:tcPr marL="83515" marR="83515"/>
                </a:tc>
                <a:tc>
                  <a:txBody>
                    <a:bodyPr/>
                    <a:lstStyle/>
                    <a:p>
                      <a:r>
                        <a:rPr lang="en-US" dirty="0"/>
                        <a:t>Quality Assurance &amp; Documentation</a:t>
                      </a:r>
                    </a:p>
                  </a:txBody>
                  <a:tcPr marL="83515" marR="83515"/>
                </a:tc>
                <a:extLst>
                  <a:ext uri="{0D108BD9-81ED-4DB2-BD59-A6C34878D82A}">
                    <a16:rowId xmlns:a16="http://schemas.microsoft.com/office/drawing/2014/main" val="1341349989"/>
                  </a:ext>
                </a:extLst>
              </a:tr>
              <a:tr h="370840">
                <a:tc>
                  <a:txBody>
                    <a:bodyPr/>
                    <a:lstStyle/>
                    <a:p>
                      <a:r>
                        <a:rPr lang="en-US" dirty="0"/>
                        <a:t>Week 8</a:t>
                      </a:r>
                    </a:p>
                  </a:txBody>
                  <a:tcPr marL="83515" marR="8351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 Delivery &amp; Presentation</a:t>
                      </a:r>
                    </a:p>
                  </a:txBody>
                  <a:tcPr marL="83515" marR="83515"/>
                </a:tc>
                <a:extLst>
                  <a:ext uri="{0D108BD9-81ED-4DB2-BD59-A6C34878D82A}">
                    <a16:rowId xmlns:a16="http://schemas.microsoft.com/office/drawing/2014/main" val="579458323"/>
                  </a:ext>
                </a:extLst>
              </a:tr>
            </a:tbl>
          </a:graphicData>
        </a:graphic>
      </p:graphicFrame>
    </p:spTree>
    <p:extLst>
      <p:ext uri="{BB962C8B-B14F-4D97-AF65-F5344CB8AC3E}">
        <p14:creationId xmlns:p14="http://schemas.microsoft.com/office/powerpoint/2010/main" val="1173436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62CC2-106B-4513-83C1-B262429A3C68}"/>
              </a:ext>
            </a:extLst>
          </p:cNvPr>
          <p:cNvSpPr>
            <a:spLocks noGrp="1"/>
          </p:cNvSpPr>
          <p:nvPr>
            <p:ph type="title"/>
          </p:nvPr>
        </p:nvSpPr>
        <p:spPr/>
        <p:txBody>
          <a:bodyPr/>
          <a:lstStyle/>
          <a:p>
            <a:r>
              <a:rPr lang="en-US" dirty="0"/>
              <a:t>Demo Overview</a:t>
            </a:r>
          </a:p>
        </p:txBody>
      </p:sp>
      <p:sp>
        <p:nvSpPr>
          <p:cNvPr id="3" name="Content Placeholder 2">
            <a:extLst>
              <a:ext uri="{FF2B5EF4-FFF2-40B4-BE49-F238E27FC236}">
                <a16:creationId xmlns:a16="http://schemas.microsoft.com/office/drawing/2014/main" id="{8C1B7992-7298-4B09-9436-0C10D996B0F0}"/>
              </a:ext>
            </a:extLst>
          </p:cNvPr>
          <p:cNvSpPr>
            <a:spLocks noGrp="1"/>
          </p:cNvSpPr>
          <p:nvPr>
            <p:ph idx="1"/>
          </p:nvPr>
        </p:nvSpPr>
        <p:spPr/>
        <p:txBody>
          <a:bodyPr/>
          <a:lstStyle/>
          <a:p>
            <a:pPr marL="0" indent="0">
              <a:buNone/>
            </a:pPr>
            <a:r>
              <a:rPr lang="en-US" dirty="0"/>
              <a:t>Now we will demonstrate the system workflow.</a:t>
            </a:r>
          </a:p>
          <a:p>
            <a:pPr marL="0" indent="0">
              <a:buNone/>
            </a:pPr>
            <a:r>
              <a:rPr lang="en-US" dirty="0"/>
              <a:t>Demo will show:</a:t>
            </a:r>
          </a:p>
          <a:p>
            <a:pPr lvl="1"/>
            <a:r>
              <a:rPr lang="en-US" dirty="0"/>
              <a:t>User login</a:t>
            </a:r>
          </a:p>
          <a:p>
            <a:pPr lvl="1"/>
            <a:r>
              <a:rPr lang="en-US" dirty="0"/>
              <a:t>Create a monthly budget</a:t>
            </a:r>
          </a:p>
          <a:p>
            <a:pPr lvl="1"/>
            <a:r>
              <a:rPr lang="en-US" dirty="0"/>
              <a:t>Add expenses</a:t>
            </a:r>
          </a:p>
          <a:p>
            <a:pPr lvl="1"/>
            <a:r>
              <a:rPr lang="en-US" dirty="0"/>
              <a:t>View dashboard summary</a:t>
            </a:r>
          </a:p>
          <a:p>
            <a:pPr marL="0" indent="0">
              <a:buNone/>
            </a:pPr>
            <a:endParaRPr lang="en-US" dirty="0"/>
          </a:p>
        </p:txBody>
      </p:sp>
    </p:spTree>
    <p:extLst>
      <p:ext uri="{BB962C8B-B14F-4D97-AF65-F5344CB8AC3E}">
        <p14:creationId xmlns:p14="http://schemas.microsoft.com/office/powerpoint/2010/main" val="4003375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D2724-A459-4DD4-BE05-DC6210E88A14}"/>
              </a:ext>
            </a:extLst>
          </p:cNvPr>
          <p:cNvSpPr>
            <a:spLocks noGrp="1"/>
          </p:cNvSpPr>
          <p:nvPr>
            <p:ph type="title"/>
          </p:nvPr>
        </p:nvSpPr>
        <p:spPr/>
        <p:txBody>
          <a:bodyPr/>
          <a:lstStyle/>
          <a:p>
            <a:r>
              <a:rPr lang="en-US" dirty="0"/>
              <a:t>Demo Step 1</a:t>
            </a:r>
          </a:p>
        </p:txBody>
      </p:sp>
      <p:sp>
        <p:nvSpPr>
          <p:cNvPr id="3" name="Content Placeholder 2">
            <a:extLst>
              <a:ext uri="{FF2B5EF4-FFF2-40B4-BE49-F238E27FC236}">
                <a16:creationId xmlns:a16="http://schemas.microsoft.com/office/drawing/2014/main" id="{8AA4FC95-DDCE-4A13-9171-0E7A0BE17C61}"/>
              </a:ext>
            </a:extLst>
          </p:cNvPr>
          <p:cNvSpPr>
            <a:spLocks noGrp="1"/>
          </p:cNvSpPr>
          <p:nvPr>
            <p:ph idx="1"/>
          </p:nvPr>
        </p:nvSpPr>
        <p:spPr/>
        <p:txBody>
          <a:bodyPr>
            <a:noAutofit/>
          </a:bodyPr>
          <a:lstStyle/>
          <a:p>
            <a:r>
              <a:rPr lang="en-US" sz="1600" b="1" dirty="0"/>
              <a:t>User Authentication</a:t>
            </a:r>
            <a:endParaRPr lang="en-US" sz="1600" dirty="0"/>
          </a:p>
          <a:p>
            <a:pPr marL="457200" lvl="1" indent="0">
              <a:buNone/>
            </a:pPr>
            <a:r>
              <a:rPr lang="en-US" sz="1600" dirty="0"/>
              <a:t>User logs into system securely.</a:t>
            </a:r>
          </a:p>
          <a:p>
            <a:r>
              <a:rPr lang="en-US" sz="1600" b="1" dirty="0"/>
              <a:t>JWT Authentication</a:t>
            </a:r>
          </a:p>
          <a:p>
            <a:pPr marL="457200" lvl="1" indent="0">
              <a:buNone/>
            </a:pPr>
            <a:r>
              <a:rPr lang="en-US" sz="1600" dirty="0"/>
              <a:t>Our application uses JSON Web Token (JWT) authentication to securely verify user identity after login. When a user logs in, the backend generates a JWT token that is sent to the frontend. This token is included in future API requests to authenticate the user without repeatedly sending login credentials. JWT enables secure, stateless authentication between the React frontend and </a:t>
            </a:r>
            <a:r>
              <a:rPr lang="en-US" sz="1600" dirty="0" err="1"/>
              <a:t>FastAPI</a:t>
            </a:r>
            <a:r>
              <a:rPr lang="en-US" sz="1600" dirty="0"/>
              <a:t> backend.</a:t>
            </a:r>
          </a:p>
          <a:p>
            <a:r>
              <a:rPr lang="en-US" sz="1600" b="1" dirty="0"/>
              <a:t>Secure Password Handling</a:t>
            </a:r>
          </a:p>
          <a:p>
            <a:pPr marL="457200" lvl="1" indent="0">
              <a:buNone/>
            </a:pPr>
            <a:r>
              <a:rPr lang="en-US" sz="1600" dirty="0"/>
              <a:t>User passwords are never stored in plain text. Instead, passwords are securely hashed using a cryptographic hashing algorithm (</a:t>
            </a:r>
            <a:r>
              <a:rPr lang="en-US" sz="1600" dirty="0" err="1"/>
              <a:t>bcrypt</a:t>
            </a:r>
            <a:r>
              <a:rPr lang="en-US" sz="1600" dirty="0"/>
              <a:t>) before being saved in the database. During login, the entered password is hashed and compared to the stored hash. This ensures that even if the database were compromised, actual user passwords would remain protected.</a:t>
            </a:r>
          </a:p>
          <a:p>
            <a:pPr marL="0" indent="0">
              <a:buNone/>
            </a:pPr>
            <a:endParaRPr lang="en-US" sz="1600" dirty="0"/>
          </a:p>
          <a:p>
            <a:pPr marL="0" indent="0">
              <a:buNone/>
            </a:pPr>
            <a:endParaRPr lang="en-US" sz="1600" dirty="0"/>
          </a:p>
        </p:txBody>
      </p:sp>
    </p:spTree>
    <p:extLst>
      <p:ext uri="{BB962C8B-B14F-4D97-AF65-F5344CB8AC3E}">
        <p14:creationId xmlns:p14="http://schemas.microsoft.com/office/powerpoint/2010/main" val="1738800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D30D-C8B3-4743-B1F6-F65B76D25351}"/>
              </a:ext>
            </a:extLst>
          </p:cNvPr>
          <p:cNvSpPr>
            <a:spLocks noGrp="1"/>
          </p:cNvSpPr>
          <p:nvPr>
            <p:ph type="title"/>
          </p:nvPr>
        </p:nvSpPr>
        <p:spPr/>
        <p:txBody>
          <a:bodyPr/>
          <a:lstStyle/>
          <a:p>
            <a:r>
              <a:rPr lang="en-US" dirty="0"/>
              <a:t>Demo Step 2</a:t>
            </a:r>
          </a:p>
        </p:txBody>
      </p:sp>
      <p:sp>
        <p:nvSpPr>
          <p:cNvPr id="3" name="Content Placeholder 2">
            <a:extLst>
              <a:ext uri="{FF2B5EF4-FFF2-40B4-BE49-F238E27FC236}">
                <a16:creationId xmlns:a16="http://schemas.microsoft.com/office/drawing/2014/main" id="{BFF8EA2D-A316-43C8-902B-F6B9A4CE3DD5}"/>
              </a:ext>
            </a:extLst>
          </p:cNvPr>
          <p:cNvSpPr>
            <a:spLocks noGrp="1"/>
          </p:cNvSpPr>
          <p:nvPr>
            <p:ph idx="1"/>
          </p:nvPr>
        </p:nvSpPr>
        <p:spPr/>
        <p:txBody>
          <a:bodyPr/>
          <a:lstStyle/>
          <a:p>
            <a:pPr marL="0" indent="0">
              <a:buNone/>
            </a:pPr>
            <a:r>
              <a:rPr lang="en-US" b="1" dirty="0"/>
              <a:t>Budget Creation</a:t>
            </a:r>
            <a:endParaRPr lang="en-US" dirty="0"/>
          </a:p>
          <a:p>
            <a:pPr marL="0" indent="0">
              <a:buNone/>
            </a:pPr>
            <a:r>
              <a:rPr lang="en-US" dirty="0"/>
              <a:t>User creates a monthly budget.</a:t>
            </a:r>
          </a:p>
          <a:p>
            <a:pPr marL="0" indent="0">
              <a:buNone/>
            </a:pPr>
            <a:r>
              <a:rPr lang="en-US" dirty="0"/>
              <a:t>Fields include:</a:t>
            </a:r>
          </a:p>
          <a:p>
            <a:pPr lvl="1"/>
            <a:r>
              <a:rPr lang="en-US" dirty="0"/>
              <a:t>Budget amount</a:t>
            </a:r>
          </a:p>
          <a:p>
            <a:pPr lvl="1"/>
            <a:r>
              <a:rPr lang="en-US" dirty="0"/>
              <a:t>Time period</a:t>
            </a:r>
          </a:p>
          <a:p>
            <a:pPr lvl="1"/>
            <a:r>
              <a:rPr lang="en-US" dirty="0"/>
              <a:t>Category limits</a:t>
            </a:r>
          </a:p>
          <a:p>
            <a:pPr marL="0" indent="0">
              <a:buNone/>
            </a:pPr>
            <a:endParaRPr lang="en-US" dirty="0"/>
          </a:p>
        </p:txBody>
      </p:sp>
    </p:spTree>
    <p:extLst>
      <p:ext uri="{BB962C8B-B14F-4D97-AF65-F5344CB8AC3E}">
        <p14:creationId xmlns:p14="http://schemas.microsoft.com/office/powerpoint/2010/main" val="2551760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DE20F-6AE3-4EAE-89FB-1304AC49E414}"/>
              </a:ext>
            </a:extLst>
          </p:cNvPr>
          <p:cNvSpPr>
            <a:spLocks noGrp="1"/>
          </p:cNvSpPr>
          <p:nvPr>
            <p:ph type="title"/>
          </p:nvPr>
        </p:nvSpPr>
        <p:spPr/>
        <p:txBody>
          <a:bodyPr/>
          <a:lstStyle/>
          <a:p>
            <a:r>
              <a:rPr lang="en-US" dirty="0"/>
              <a:t>Demo Step 3</a:t>
            </a:r>
          </a:p>
        </p:txBody>
      </p:sp>
      <p:sp>
        <p:nvSpPr>
          <p:cNvPr id="3" name="Content Placeholder 2">
            <a:extLst>
              <a:ext uri="{FF2B5EF4-FFF2-40B4-BE49-F238E27FC236}">
                <a16:creationId xmlns:a16="http://schemas.microsoft.com/office/drawing/2014/main" id="{AAD23A6B-661E-481E-8762-E693E52A95C3}"/>
              </a:ext>
            </a:extLst>
          </p:cNvPr>
          <p:cNvSpPr>
            <a:spLocks noGrp="1"/>
          </p:cNvSpPr>
          <p:nvPr>
            <p:ph idx="1"/>
          </p:nvPr>
        </p:nvSpPr>
        <p:spPr/>
        <p:txBody>
          <a:bodyPr/>
          <a:lstStyle/>
          <a:p>
            <a:pPr marL="0" indent="0">
              <a:buNone/>
            </a:pPr>
            <a:r>
              <a:rPr lang="en-US" b="1" dirty="0"/>
              <a:t>Expense Tracking</a:t>
            </a:r>
            <a:endParaRPr lang="en-US" dirty="0"/>
          </a:p>
          <a:p>
            <a:pPr marL="0" indent="0">
              <a:buNone/>
            </a:pPr>
            <a:r>
              <a:rPr lang="en-US" dirty="0"/>
              <a:t>User records expenses including:</a:t>
            </a:r>
          </a:p>
          <a:p>
            <a:pPr lvl="1"/>
            <a:r>
              <a:rPr lang="en-US" dirty="0"/>
              <a:t>Expense description</a:t>
            </a:r>
          </a:p>
          <a:p>
            <a:pPr lvl="1"/>
            <a:r>
              <a:rPr lang="en-US" dirty="0"/>
              <a:t>Amount</a:t>
            </a:r>
          </a:p>
          <a:p>
            <a:pPr lvl="1"/>
            <a:r>
              <a:rPr lang="en-US" dirty="0"/>
              <a:t>Category</a:t>
            </a:r>
          </a:p>
          <a:p>
            <a:pPr marL="0" indent="0">
              <a:buNone/>
            </a:pPr>
            <a:r>
              <a:rPr lang="en-US" dirty="0"/>
              <a:t>System updates totals automatically.</a:t>
            </a:r>
          </a:p>
          <a:p>
            <a:pPr marL="0" indent="0">
              <a:buNone/>
            </a:pPr>
            <a:endParaRPr lang="en-US" dirty="0"/>
          </a:p>
        </p:txBody>
      </p:sp>
    </p:spTree>
    <p:extLst>
      <p:ext uri="{BB962C8B-B14F-4D97-AF65-F5344CB8AC3E}">
        <p14:creationId xmlns:p14="http://schemas.microsoft.com/office/powerpoint/2010/main" val="3674578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BEC02-6302-4E2A-9735-99742B41FF8E}"/>
              </a:ext>
            </a:extLst>
          </p:cNvPr>
          <p:cNvSpPr>
            <a:spLocks noGrp="1"/>
          </p:cNvSpPr>
          <p:nvPr>
            <p:ph type="title"/>
          </p:nvPr>
        </p:nvSpPr>
        <p:spPr/>
        <p:txBody>
          <a:bodyPr/>
          <a:lstStyle/>
          <a:p>
            <a:r>
              <a:rPr lang="en-US" dirty="0"/>
              <a:t>Demo Step 4</a:t>
            </a:r>
          </a:p>
        </p:txBody>
      </p:sp>
      <p:sp>
        <p:nvSpPr>
          <p:cNvPr id="3" name="Content Placeholder 2">
            <a:extLst>
              <a:ext uri="{FF2B5EF4-FFF2-40B4-BE49-F238E27FC236}">
                <a16:creationId xmlns:a16="http://schemas.microsoft.com/office/drawing/2014/main" id="{A1E1DF6D-1F19-456A-8847-4F3503119024}"/>
              </a:ext>
            </a:extLst>
          </p:cNvPr>
          <p:cNvSpPr>
            <a:spLocks noGrp="1"/>
          </p:cNvSpPr>
          <p:nvPr>
            <p:ph idx="1"/>
          </p:nvPr>
        </p:nvSpPr>
        <p:spPr/>
        <p:txBody>
          <a:bodyPr/>
          <a:lstStyle/>
          <a:p>
            <a:pPr marL="0" indent="0">
              <a:buNone/>
            </a:pPr>
            <a:r>
              <a:rPr lang="en-US" b="1" dirty="0"/>
              <a:t>Dashboard Summary</a:t>
            </a:r>
            <a:endParaRPr lang="en-US" dirty="0"/>
          </a:p>
          <a:p>
            <a:pPr marL="0" indent="0">
              <a:buNone/>
            </a:pPr>
            <a:r>
              <a:rPr lang="en-US" dirty="0"/>
              <a:t>User can view:</a:t>
            </a:r>
          </a:p>
          <a:p>
            <a:pPr lvl="1"/>
            <a:r>
              <a:rPr lang="en-US" dirty="0"/>
              <a:t>Total expenses</a:t>
            </a:r>
          </a:p>
          <a:p>
            <a:pPr lvl="1"/>
            <a:r>
              <a:rPr lang="en-US" dirty="0"/>
              <a:t>Remaining budget</a:t>
            </a:r>
          </a:p>
          <a:p>
            <a:pPr lvl="1"/>
            <a:r>
              <a:rPr lang="en-US" dirty="0"/>
              <a:t>Category spending</a:t>
            </a:r>
          </a:p>
          <a:p>
            <a:pPr marL="0" indent="0">
              <a:buNone/>
            </a:pPr>
            <a:r>
              <a:rPr lang="en-US" dirty="0"/>
              <a:t>This provides quick financial insight.</a:t>
            </a:r>
          </a:p>
          <a:p>
            <a:pPr marL="0" indent="0">
              <a:buNone/>
            </a:pPr>
            <a:endParaRPr lang="en-US" dirty="0"/>
          </a:p>
        </p:txBody>
      </p:sp>
    </p:spTree>
    <p:extLst>
      <p:ext uri="{BB962C8B-B14F-4D97-AF65-F5344CB8AC3E}">
        <p14:creationId xmlns:p14="http://schemas.microsoft.com/office/powerpoint/2010/main" val="535329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02C15-BADE-4C49-999C-D870C54CF77C}"/>
              </a:ext>
            </a:extLst>
          </p:cNvPr>
          <p:cNvSpPr>
            <a:spLocks noGrp="1"/>
          </p:cNvSpPr>
          <p:nvPr>
            <p:ph type="title"/>
          </p:nvPr>
        </p:nvSpPr>
        <p:spPr/>
        <p:txBody>
          <a:bodyPr/>
          <a:lstStyle/>
          <a:p>
            <a:r>
              <a:rPr lang="en-US" dirty="0"/>
              <a:t>Challenges &amp; Lessons Learned</a:t>
            </a:r>
          </a:p>
        </p:txBody>
      </p:sp>
      <p:sp>
        <p:nvSpPr>
          <p:cNvPr id="3" name="Content Placeholder 2">
            <a:extLst>
              <a:ext uri="{FF2B5EF4-FFF2-40B4-BE49-F238E27FC236}">
                <a16:creationId xmlns:a16="http://schemas.microsoft.com/office/drawing/2014/main" id="{67110C1C-D9A2-43E1-A794-EDAD7E9028DC}"/>
              </a:ext>
            </a:extLst>
          </p:cNvPr>
          <p:cNvSpPr>
            <a:spLocks noGrp="1"/>
          </p:cNvSpPr>
          <p:nvPr>
            <p:ph idx="1"/>
          </p:nvPr>
        </p:nvSpPr>
        <p:spPr/>
        <p:txBody>
          <a:bodyPr>
            <a:normAutofit fontScale="85000" lnSpcReduction="10000"/>
          </a:bodyPr>
          <a:lstStyle/>
          <a:p>
            <a:pPr marL="0" indent="0">
              <a:buNone/>
            </a:pPr>
            <a:r>
              <a:rPr lang="en-US" dirty="0"/>
              <a:t>Some challenges encountered:</a:t>
            </a:r>
          </a:p>
          <a:p>
            <a:pPr lvl="1"/>
            <a:r>
              <a:rPr lang="en-US" dirty="0"/>
              <a:t>Integration Complexity</a:t>
            </a:r>
            <a:br>
              <a:rPr lang="en-US" dirty="0"/>
            </a:br>
            <a:r>
              <a:rPr lang="en-US" dirty="0"/>
              <a:t>Frontend and backend synchronization required careful API design.</a:t>
            </a:r>
          </a:p>
          <a:p>
            <a:pPr lvl="1"/>
            <a:r>
              <a:rPr lang="en-US" dirty="0"/>
              <a:t>State Management</a:t>
            </a:r>
            <a:br>
              <a:rPr lang="en-US" dirty="0"/>
            </a:br>
            <a:r>
              <a:rPr lang="en-US" dirty="0"/>
              <a:t>Ensuring UI reflected updated financial data.</a:t>
            </a:r>
          </a:p>
          <a:p>
            <a:pPr lvl="1"/>
            <a:r>
              <a:rPr lang="en-US" dirty="0"/>
              <a:t>Testing Financial Logic</a:t>
            </a:r>
            <a:br>
              <a:rPr lang="en-US" dirty="0"/>
            </a:br>
            <a:r>
              <a:rPr lang="en-US" dirty="0"/>
              <a:t>Budget calculations required strong test coverage to ensure accuracy.</a:t>
            </a:r>
          </a:p>
          <a:p>
            <a:pPr marL="0" indent="0">
              <a:buNone/>
            </a:pPr>
            <a:r>
              <a:rPr lang="en-US" dirty="0"/>
              <a:t>Lessons learned:</a:t>
            </a:r>
          </a:p>
          <a:p>
            <a:pPr lvl="1"/>
            <a:r>
              <a:rPr lang="en-US" dirty="0"/>
              <a:t>Start integration earlier</a:t>
            </a:r>
          </a:p>
          <a:p>
            <a:pPr lvl="1"/>
            <a:r>
              <a:rPr lang="en-US" dirty="0"/>
              <a:t>Write tests alongside implementation</a:t>
            </a:r>
          </a:p>
          <a:p>
            <a:pPr lvl="1"/>
            <a:r>
              <a:rPr lang="en-US" dirty="0"/>
              <a:t>Maintain clear documentation.</a:t>
            </a:r>
          </a:p>
          <a:p>
            <a:pPr marL="0" indent="0">
              <a:buNone/>
            </a:pPr>
            <a:endParaRPr lang="en-US" dirty="0"/>
          </a:p>
        </p:txBody>
      </p:sp>
    </p:spTree>
    <p:extLst>
      <p:ext uri="{BB962C8B-B14F-4D97-AF65-F5344CB8AC3E}">
        <p14:creationId xmlns:p14="http://schemas.microsoft.com/office/powerpoint/2010/main" val="1974564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D9F49-728F-4D2A-82D6-8A81F39FBF6F}"/>
              </a:ext>
            </a:extLst>
          </p:cNvPr>
          <p:cNvSpPr>
            <a:spLocks noGrp="1"/>
          </p:cNvSpPr>
          <p:nvPr>
            <p:ph type="title"/>
          </p:nvPr>
        </p:nvSpPr>
        <p:spPr/>
        <p:txBody>
          <a:bodyPr/>
          <a:lstStyle/>
          <a:p>
            <a:r>
              <a:rPr lang="en-US" dirty="0"/>
              <a:t>Results &amp; Impact</a:t>
            </a:r>
          </a:p>
        </p:txBody>
      </p:sp>
      <p:sp>
        <p:nvSpPr>
          <p:cNvPr id="3" name="Content Placeholder 2">
            <a:extLst>
              <a:ext uri="{FF2B5EF4-FFF2-40B4-BE49-F238E27FC236}">
                <a16:creationId xmlns:a16="http://schemas.microsoft.com/office/drawing/2014/main" id="{0D06E819-FC87-4FC6-A5EA-38544D62E2A4}"/>
              </a:ext>
            </a:extLst>
          </p:cNvPr>
          <p:cNvSpPr>
            <a:spLocks noGrp="1"/>
          </p:cNvSpPr>
          <p:nvPr>
            <p:ph idx="1"/>
          </p:nvPr>
        </p:nvSpPr>
        <p:spPr/>
        <p:txBody>
          <a:bodyPr>
            <a:normAutofit lnSpcReduction="10000"/>
          </a:bodyPr>
          <a:lstStyle/>
          <a:p>
            <a:pPr marL="0" indent="0">
              <a:buNone/>
            </a:pPr>
            <a:r>
              <a:rPr lang="en-US" dirty="0"/>
              <a:t>Our system successfully delivers:</a:t>
            </a:r>
          </a:p>
          <a:p>
            <a:pPr lvl="1"/>
            <a:r>
              <a:rPr lang="en-US" dirty="0"/>
              <a:t>Functional budgeting system</a:t>
            </a:r>
          </a:p>
          <a:p>
            <a:pPr lvl="1"/>
            <a:r>
              <a:rPr lang="en-US" dirty="0"/>
              <a:t>Cross-platform accessibility</a:t>
            </a:r>
          </a:p>
          <a:p>
            <a:pPr lvl="1"/>
            <a:r>
              <a:rPr lang="en-US" dirty="0"/>
              <a:t>Secure authentication</a:t>
            </a:r>
          </a:p>
          <a:p>
            <a:pPr lvl="1"/>
            <a:r>
              <a:rPr lang="en-US" dirty="0"/>
              <a:t>Reliable financial calculations</a:t>
            </a:r>
          </a:p>
          <a:p>
            <a:pPr marL="0" indent="0">
              <a:buNone/>
            </a:pPr>
            <a:r>
              <a:rPr lang="en-US" dirty="0"/>
              <a:t>Quality assurance results:</a:t>
            </a:r>
          </a:p>
          <a:p>
            <a:pPr lvl="1"/>
            <a:r>
              <a:rPr lang="en-US" dirty="0"/>
              <a:t>75%+ test coverage</a:t>
            </a:r>
          </a:p>
          <a:p>
            <a:pPr lvl="1"/>
            <a:r>
              <a:rPr lang="en-US" dirty="0"/>
              <a:t>All critical bugs resolved</a:t>
            </a:r>
          </a:p>
          <a:p>
            <a:pPr lvl="1"/>
            <a:r>
              <a:rPr lang="en-US" dirty="0"/>
              <a:t>Fully deployable MVP</a:t>
            </a:r>
          </a:p>
          <a:p>
            <a:pPr marL="0" indent="0">
              <a:buNone/>
            </a:pPr>
            <a:endParaRPr lang="en-US" dirty="0"/>
          </a:p>
        </p:txBody>
      </p:sp>
    </p:spTree>
    <p:extLst>
      <p:ext uri="{BB962C8B-B14F-4D97-AF65-F5344CB8AC3E}">
        <p14:creationId xmlns:p14="http://schemas.microsoft.com/office/powerpoint/2010/main" val="880215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DA3C6-CD06-4C47-BE65-7C5F0C6D9769}"/>
              </a:ext>
            </a:extLst>
          </p:cNvPr>
          <p:cNvSpPr>
            <a:spLocks noGrp="1"/>
          </p:cNvSpPr>
          <p:nvPr>
            <p:ph type="title"/>
          </p:nvPr>
        </p:nvSpPr>
        <p:spPr/>
        <p:txBody>
          <a:bodyPr/>
          <a:lstStyle/>
          <a:p>
            <a:r>
              <a:rPr lang="en-US" dirty="0"/>
              <a:t>Future Improvements</a:t>
            </a:r>
          </a:p>
        </p:txBody>
      </p:sp>
      <p:sp>
        <p:nvSpPr>
          <p:cNvPr id="3" name="Content Placeholder 2">
            <a:extLst>
              <a:ext uri="{FF2B5EF4-FFF2-40B4-BE49-F238E27FC236}">
                <a16:creationId xmlns:a16="http://schemas.microsoft.com/office/drawing/2014/main" id="{AFBAA07D-7FA0-4481-AD37-D4073234851D}"/>
              </a:ext>
            </a:extLst>
          </p:cNvPr>
          <p:cNvSpPr>
            <a:spLocks noGrp="1"/>
          </p:cNvSpPr>
          <p:nvPr>
            <p:ph idx="1"/>
          </p:nvPr>
        </p:nvSpPr>
        <p:spPr/>
        <p:txBody>
          <a:bodyPr/>
          <a:lstStyle/>
          <a:p>
            <a:pPr marL="0" indent="0">
              <a:buNone/>
            </a:pPr>
            <a:r>
              <a:rPr lang="en-US" dirty="0"/>
              <a:t>Potential future enhancements include:</a:t>
            </a:r>
          </a:p>
          <a:p>
            <a:pPr lvl="1"/>
            <a:r>
              <a:rPr lang="en-US" dirty="0"/>
              <a:t>Data visualization charts</a:t>
            </a:r>
          </a:p>
          <a:p>
            <a:pPr lvl="1"/>
            <a:r>
              <a:rPr lang="en-US" dirty="0"/>
              <a:t>Budget forecasting</a:t>
            </a:r>
          </a:p>
          <a:p>
            <a:pPr lvl="1"/>
            <a:r>
              <a:rPr lang="en-US" dirty="0"/>
              <a:t>Multi-user household budgets</a:t>
            </a:r>
          </a:p>
          <a:p>
            <a:pPr lvl="1"/>
            <a:r>
              <a:rPr lang="en-US" dirty="0"/>
              <a:t>Financial insights and alerts</a:t>
            </a:r>
          </a:p>
          <a:p>
            <a:pPr marL="0" indent="0">
              <a:buNone/>
            </a:pPr>
            <a:endParaRPr lang="en-US" dirty="0"/>
          </a:p>
        </p:txBody>
      </p:sp>
    </p:spTree>
    <p:extLst>
      <p:ext uri="{BB962C8B-B14F-4D97-AF65-F5344CB8AC3E}">
        <p14:creationId xmlns:p14="http://schemas.microsoft.com/office/powerpoint/2010/main" val="1198360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A8287-2214-48C7-A6D0-5ADE6B028AD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E86233BC-1207-4527-8BB3-2D4D02A5F144}"/>
              </a:ext>
            </a:extLst>
          </p:cNvPr>
          <p:cNvSpPr>
            <a:spLocks noGrp="1"/>
          </p:cNvSpPr>
          <p:nvPr>
            <p:ph idx="1"/>
          </p:nvPr>
        </p:nvSpPr>
        <p:spPr/>
        <p:txBody>
          <a:bodyPr/>
          <a:lstStyle/>
          <a:p>
            <a:pPr marL="0" indent="0">
              <a:buNone/>
            </a:pPr>
            <a:r>
              <a:rPr lang="en-US" dirty="0"/>
              <a:t>The Cross-Platform Budgeting Application demonstrates:</a:t>
            </a:r>
          </a:p>
          <a:p>
            <a:pPr lvl="1"/>
            <a:r>
              <a:rPr lang="en-US" dirty="0"/>
              <a:t>Full-stack system development</a:t>
            </a:r>
          </a:p>
          <a:p>
            <a:pPr lvl="1"/>
            <a:r>
              <a:rPr lang="en-US" dirty="0"/>
              <a:t>Team collaboration</a:t>
            </a:r>
          </a:p>
          <a:p>
            <a:pPr lvl="1"/>
            <a:r>
              <a:rPr lang="en-US" dirty="0"/>
              <a:t>Testing and quality assurance</a:t>
            </a:r>
          </a:p>
          <a:p>
            <a:pPr lvl="1"/>
            <a:r>
              <a:rPr lang="en-US" dirty="0"/>
              <a:t>Professional documentation</a:t>
            </a:r>
          </a:p>
          <a:p>
            <a:pPr marL="0" indent="0">
              <a:buNone/>
            </a:pPr>
            <a:r>
              <a:rPr lang="en-US" dirty="0"/>
              <a:t>This project reflects the integration of knowledge from across the MSSE program.</a:t>
            </a:r>
          </a:p>
          <a:p>
            <a:pPr marL="0" indent="0">
              <a:buNone/>
            </a:pPr>
            <a:r>
              <a:rPr lang="en-US" dirty="0"/>
              <a:t>Thank you.</a:t>
            </a:r>
          </a:p>
        </p:txBody>
      </p:sp>
    </p:spTree>
    <p:extLst>
      <p:ext uri="{BB962C8B-B14F-4D97-AF65-F5344CB8AC3E}">
        <p14:creationId xmlns:p14="http://schemas.microsoft.com/office/powerpoint/2010/main" val="1981428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AE15F-B4A0-4FE2-392C-CA1C3509FC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B2289-727B-19C0-E535-91C6B8489DA9}"/>
              </a:ext>
            </a:extLst>
          </p:cNvPr>
          <p:cNvSpPr>
            <a:spLocks noGrp="1"/>
          </p:cNvSpPr>
          <p:nvPr>
            <p:ph type="title"/>
          </p:nvPr>
        </p:nvSpPr>
        <p:spPr>
          <a:xfrm>
            <a:off x="1294362" y="2379765"/>
            <a:ext cx="9603275" cy="1049235"/>
          </a:xfrm>
        </p:spPr>
        <p:txBody>
          <a:bodyPr>
            <a:normAutofit/>
          </a:bodyPr>
          <a:lstStyle/>
          <a:p>
            <a:pPr algn="ctr"/>
            <a:r>
              <a:rPr lang="en-US" sz="6600" dirty="0"/>
              <a:t>Thank You</a:t>
            </a:r>
          </a:p>
        </p:txBody>
      </p:sp>
    </p:spTree>
    <p:extLst>
      <p:ext uri="{BB962C8B-B14F-4D97-AF65-F5344CB8AC3E}">
        <p14:creationId xmlns:p14="http://schemas.microsoft.com/office/powerpoint/2010/main" val="235447402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130</TotalTime>
  <Words>720</Words>
  <Application>Microsoft Office PowerPoint</Application>
  <PresentationFormat>Widescreen</PresentationFormat>
  <Paragraphs>157</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Gill Sans MT</vt:lpstr>
      <vt:lpstr>Gallery</vt:lpstr>
      <vt:lpstr>Cross-Platform Budgeting Application</vt:lpstr>
      <vt:lpstr>Presentation Agenda</vt:lpstr>
      <vt:lpstr>Problem Overview</vt:lpstr>
      <vt:lpstr>Our Solution</vt:lpstr>
      <vt:lpstr>Key Features</vt:lpstr>
      <vt:lpstr>System Architecture</vt:lpstr>
      <vt:lpstr>Architecture Diagram</vt:lpstr>
      <vt:lpstr>Technology Stack</vt:lpstr>
      <vt:lpstr>Development Process</vt:lpstr>
      <vt:lpstr>Demo Overview</vt:lpstr>
      <vt:lpstr>Demo Step 1</vt:lpstr>
      <vt:lpstr>Demo Step 2</vt:lpstr>
      <vt:lpstr>Demo Step 3</vt:lpstr>
      <vt:lpstr>Demo Step 4</vt:lpstr>
      <vt:lpstr>Challenges &amp; Lessons Learned</vt:lpstr>
      <vt:lpstr>Results &amp; Impact</vt:lpstr>
      <vt:lpstr>Future Improvements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Cross-Platform Budgeting Application</dc:title>
  <dc:creator>Admin</dc:creator>
  <cp:lastModifiedBy>Lim, John M</cp:lastModifiedBy>
  <cp:revision>17</cp:revision>
  <dcterms:created xsi:type="dcterms:W3CDTF">2026-03-07T06:29:04Z</dcterms:created>
  <dcterms:modified xsi:type="dcterms:W3CDTF">2026-03-09T04:35:34Z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6de1d5b-8b4b-4e4e-a8a1-d2976158103f_Enabled">
    <vt:lpwstr>true</vt:lpwstr>
  </property>
  <property fmtid="{D5CDD505-2E9C-101B-9397-08002B2CF9AE}" pid="3" name="MSIP_Label_a6de1d5b-8b4b-4e4e-a8a1-d2976158103f_SetDate">
    <vt:lpwstr>2026-03-09T04:35:34Z</vt:lpwstr>
  </property>
  <property fmtid="{D5CDD505-2E9C-101B-9397-08002B2CF9AE}" pid="4" name="MSIP_Label_a6de1d5b-8b4b-4e4e-a8a1-d2976158103f_Method">
    <vt:lpwstr>Standard</vt:lpwstr>
  </property>
  <property fmtid="{D5CDD505-2E9C-101B-9397-08002B2CF9AE}" pid="5" name="MSIP_Label_a6de1d5b-8b4b-4e4e-a8a1-d2976158103f_Name">
    <vt:lpwstr>defa4170-0d19-0005-0004-bc88714345d2</vt:lpwstr>
  </property>
  <property fmtid="{D5CDD505-2E9C-101B-9397-08002B2CF9AE}" pid="6" name="MSIP_Label_a6de1d5b-8b4b-4e4e-a8a1-d2976158103f_SiteId">
    <vt:lpwstr>ecd4c5d9-c2fe-4522-afd1-f0d20755d9d7</vt:lpwstr>
  </property>
  <property fmtid="{D5CDD505-2E9C-101B-9397-08002B2CF9AE}" pid="7" name="MSIP_Label_a6de1d5b-8b4b-4e4e-a8a1-d2976158103f_ActionId">
    <vt:lpwstr>77e734ae-6f2a-4d0b-ab2e-1439be89292b</vt:lpwstr>
  </property>
  <property fmtid="{D5CDD505-2E9C-101B-9397-08002B2CF9AE}" pid="8" name="MSIP_Label_a6de1d5b-8b4b-4e4e-a8a1-d2976158103f_ContentBits">
    <vt:lpwstr>0</vt:lpwstr>
  </property>
  <property fmtid="{D5CDD505-2E9C-101B-9397-08002B2CF9AE}" pid="9" name="MSIP_Label_a6de1d5b-8b4b-4e4e-a8a1-d2976158103f_Tag">
    <vt:lpwstr>10, 3, 0, 1</vt:lpwstr>
  </property>
</Properties>
</file>